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aleway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Italic.fntdata"/><Relationship Id="rId11" Type="http://schemas.openxmlformats.org/officeDocument/2006/relationships/slide" Target="slides/slide6.xml"/><Relationship Id="rId22" Type="http://schemas.openxmlformats.org/officeDocument/2006/relationships/font" Target="fonts/Lato-bold.fntdata"/><Relationship Id="rId10" Type="http://schemas.openxmlformats.org/officeDocument/2006/relationships/slide" Target="slides/slide5.xml"/><Relationship Id="rId21" Type="http://schemas.openxmlformats.org/officeDocument/2006/relationships/font" Target="fonts/Lato-regular.fntdata"/><Relationship Id="rId13" Type="http://schemas.openxmlformats.org/officeDocument/2006/relationships/slide" Target="slides/slide8.xml"/><Relationship Id="rId24" Type="http://schemas.openxmlformats.org/officeDocument/2006/relationships/font" Target="fonts/Lato-boldItalic.fntdata"/><Relationship Id="rId12" Type="http://schemas.openxmlformats.org/officeDocument/2006/relationships/slide" Target="slides/slide7.xml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italic.fntdata"/><Relationship Id="rId6" Type="http://schemas.openxmlformats.org/officeDocument/2006/relationships/slide" Target="slides/slide1.xml"/><Relationship Id="rId18" Type="http://schemas.openxmlformats.org/officeDocument/2006/relationships/font" Target="fonts/Raleway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751e6bdab_38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751e6bdab_38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723630543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72363054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751e6bdab_3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d751e6bdab_3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751e6bdab_38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751e6bdab_38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751e6bdab_3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751e6bdab_3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d251bb473_0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d251bb473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751e6bdab_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d751e6bdab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751e6bdab_3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d751e6bdab_3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751e6bdab_38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d751e6bdab_38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723630543_5_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723630543_5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751e6bda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d751e6bda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prove" id="72" name="Google Shape;7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/>
          <p:nvPr/>
        </p:nvSpPr>
        <p:spPr>
          <a:xfrm>
            <a:off x="381000" y="381000"/>
            <a:ext cx="381000" cy="38100"/>
          </a:xfrm>
          <a:prstGeom prst="rect">
            <a:avLst/>
          </a:prstGeom>
          <a:solidFill>
            <a:srgbClr val="F4652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 txBox="1"/>
          <p:nvPr/>
        </p:nvSpPr>
        <p:spPr>
          <a:xfrm>
            <a:off x="381000" y="523875"/>
            <a:ext cx="8382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15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Hybrid Listing </a:t>
            </a:r>
            <a:r>
              <a:rPr b="1" lang="en" sz="3515">
                <a:solidFill>
                  <a:srgbClr val="F46524"/>
                </a:solidFill>
                <a:latin typeface="Raleway"/>
                <a:ea typeface="Raleway"/>
                <a:cs typeface="Raleway"/>
                <a:sym typeface="Raleway"/>
              </a:rPr>
              <a:t>Search &amp; Ranking</a:t>
            </a:r>
            <a:endParaRPr b="1" sz="3515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79" name="Google Shape;79;p14"/>
          <p:cNvGrpSpPr/>
          <p:nvPr/>
        </p:nvGrpSpPr>
        <p:grpSpPr>
          <a:xfrm>
            <a:off x="381000" y="1333500"/>
            <a:ext cx="8382150" cy="3048000"/>
            <a:chOff x="381000" y="1333500"/>
            <a:chExt cx="8382150" cy="3048000"/>
          </a:xfrm>
        </p:grpSpPr>
        <p:sp>
          <p:nvSpPr>
            <p:cNvPr id="80" name="Google Shape;80;p14"/>
            <p:cNvSpPr/>
            <p:nvPr/>
          </p:nvSpPr>
          <p:spPr>
            <a:xfrm>
              <a:off x="381000" y="1333500"/>
              <a:ext cx="4095900" cy="1333500"/>
            </a:xfrm>
            <a:prstGeom prst="roundRect">
              <a:avLst>
                <a:gd fmla="val 5714" name="adj"/>
              </a:avLst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4"/>
            <p:cNvSpPr txBox="1"/>
            <p:nvPr/>
          </p:nvSpPr>
          <p:spPr>
            <a:xfrm>
              <a:off x="571500" y="151142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F4652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search</a:t>
              </a:r>
              <a:endParaRPr sz="2400">
                <a:solidFill>
                  <a:srgbClr val="F4652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2" name="Google Shape;82;p14"/>
            <p:cNvSpPr txBox="1"/>
            <p:nvPr/>
          </p:nvSpPr>
          <p:spPr>
            <a:xfrm>
              <a:off x="571500" y="1857375"/>
              <a:ext cx="3714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Search Strategy</a:t>
              </a:r>
              <a:endParaRPr b="1" sz="13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4A3B8"/>
                  </a:solidFill>
                  <a:latin typeface="Lato"/>
                  <a:ea typeface="Lato"/>
                  <a:cs typeface="Lato"/>
                  <a:sym typeface="Lato"/>
                </a:rPr>
                <a:t>Build a real-estate search system mapping natural queries to high-quality results.</a:t>
              </a:r>
              <a:endParaRPr b="0" sz="11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3" name="Google Shape;83;p14"/>
            <p:cNvSpPr/>
            <p:nvPr/>
          </p:nvSpPr>
          <p:spPr>
            <a:xfrm>
              <a:off x="4667250" y="1333500"/>
              <a:ext cx="4095900" cy="1333500"/>
            </a:xfrm>
            <a:prstGeom prst="roundRect">
              <a:avLst>
                <a:gd fmla="val 5714" name="adj"/>
              </a:avLst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4"/>
            <p:cNvSpPr txBox="1"/>
            <p:nvPr/>
          </p:nvSpPr>
          <p:spPr>
            <a:xfrm>
              <a:off x="4857750" y="151142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F4652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filter_alt</a:t>
              </a:r>
              <a:endParaRPr sz="2400">
                <a:solidFill>
                  <a:srgbClr val="F4652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5" name="Google Shape;85;p14"/>
            <p:cNvSpPr txBox="1"/>
            <p:nvPr/>
          </p:nvSpPr>
          <p:spPr>
            <a:xfrm>
              <a:off x="4857750" y="1857375"/>
              <a:ext cx="3714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Hard Criteria</a:t>
              </a:r>
              <a:endParaRPr b="1" sz="13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4A3B8"/>
                  </a:solidFill>
                  <a:latin typeface="Lato"/>
                  <a:ea typeface="Lato"/>
                  <a:cs typeface="Lato"/>
                  <a:sym typeface="Lato"/>
                </a:rPr>
                <a:t>Identify hard criteria, such as price, rooms, and location, to filter listings.</a:t>
              </a:r>
              <a:endParaRPr b="0" sz="11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6" name="Google Shape;86;p14"/>
            <p:cNvSpPr/>
            <p:nvPr/>
          </p:nvSpPr>
          <p:spPr>
            <a:xfrm>
              <a:off x="381000" y="2857500"/>
              <a:ext cx="2667000" cy="1524000"/>
            </a:xfrm>
            <a:prstGeom prst="roundRect">
              <a:avLst>
                <a:gd fmla="val 5000" name="adj"/>
              </a:avLst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4"/>
            <p:cNvSpPr txBox="1"/>
            <p:nvPr/>
          </p:nvSpPr>
          <p:spPr>
            <a:xfrm>
              <a:off x="571500" y="3029585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50">
                  <a:solidFill>
                    <a:srgbClr val="F4652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endParaRPr sz="1850">
                <a:solidFill>
                  <a:srgbClr val="F4652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8" name="Google Shape;88;p14"/>
            <p:cNvSpPr txBox="1"/>
            <p:nvPr/>
          </p:nvSpPr>
          <p:spPr>
            <a:xfrm>
              <a:off x="571500" y="3333750"/>
              <a:ext cx="2286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Validation</a:t>
              </a:r>
              <a:endParaRPr b="1" sz="1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94A3B8"/>
                  </a:solidFill>
                  <a:latin typeface="Lato"/>
                  <a:ea typeface="Lato"/>
                  <a:cs typeface="Lato"/>
                  <a:sym typeface="Lato"/>
                </a:rPr>
                <a:t>Retrieve and validate; only results satisfying all strict constraints are returned.</a:t>
              </a:r>
              <a:endParaRPr b="0" sz="105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9" name="Google Shape;89;p14"/>
            <p:cNvSpPr/>
            <p:nvPr/>
          </p:nvSpPr>
          <p:spPr>
            <a:xfrm>
              <a:off x="3238500" y="2857500"/>
              <a:ext cx="2667000" cy="1524000"/>
            </a:xfrm>
            <a:prstGeom prst="roundRect">
              <a:avLst>
                <a:gd fmla="val 5000" name="adj"/>
              </a:avLst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4"/>
            <p:cNvSpPr txBox="1"/>
            <p:nvPr/>
          </p:nvSpPr>
          <p:spPr>
            <a:xfrm>
              <a:off x="3429000" y="3029585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50">
                  <a:solidFill>
                    <a:srgbClr val="F4652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star</a:t>
              </a:r>
              <a:endParaRPr sz="1850">
                <a:solidFill>
                  <a:srgbClr val="F4652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1" name="Google Shape;91;p14"/>
            <p:cNvSpPr txBox="1"/>
            <p:nvPr/>
          </p:nvSpPr>
          <p:spPr>
            <a:xfrm>
              <a:off x="3429000" y="3333750"/>
              <a:ext cx="2286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Soft Ranking</a:t>
              </a:r>
              <a:endParaRPr b="1" sz="1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94A3B8"/>
                  </a:solidFill>
                  <a:latin typeface="Lato"/>
                  <a:ea typeface="Lato"/>
                  <a:cs typeface="Lato"/>
                  <a:sym typeface="Lato"/>
                </a:rPr>
                <a:t>Rank valid listings by interpreting soft preferences (e.g., "bright," "modern").</a:t>
              </a:r>
              <a:endParaRPr b="0" sz="105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92" name="Google Shape;92;p14"/>
            <p:cNvSpPr/>
            <p:nvPr/>
          </p:nvSpPr>
          <p:spPr>
            <a:xfrm>
              <a:off x="6096000" y="2857500"/>
              <a:ext cx="2667000" cy="1524000"/>
            </a:xfrm>
            <a:prstGeom prst="roundRect">
              <a:avLst>
                <a:gd fmla="val 5000" name="adj"/>
              </a:avLst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4"/>
            <p:cNvSpPr txBox="1"/>
            <p:nvPr/>
          </p:nvSpPr>
          <p:spPr>
            <a:xfrm>
              <a:off x="6286500" y="3029585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50">
                  <a:solidFill>
                    <a:srgbClr val="F4652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info</a:t>
              </a:r>
              <a:endParaRPr sz="1850">
                <a:solidFill>
                  <a:srgbClr val="F4652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4" name="Google Shape;94;p14"/>
            <p:cNvSpPr txBox="1"/>
            <p:nvPr/>
          </p:nvSpPr>
          <p:spPr>
            <a:xfrm>
              <a:off x="6286500" y="3333750"/>
              <a:ext cx="2286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Explainability</a:t>
              </a:r>
              <a:endParaRPr b="1" sz="1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94A3B8"/>
                  </a:solidFill>
                  <a:latin typeface="Lato"/>
                  <a:ea typeface="Lato"/>
                  <a:cs typeface="Lato"/>
                  <a:sym typeface="Lato"/>
                </a:rPr>
                <a:t>Provide a short explanation detailing why top results rank highly.</a:t>
              </a:r>
              <a:endParaRPr b="0" sz="105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95" name="Google Shape;95;p14"/>
          <p:cNvSpPr txBox="1"/>
          <p:nvPr/>
        </p:nvSpPr>
        <p:spPr>
          <a:xfrm>
            <a:off x="381000" y="4667250"/>
            <a:ext cx="8382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0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Datathon 2026 Challenge: Focus on search quality, robustness, and hybrid retrieval logic.</a:t>
            </a:r>
            <a:endParaRPr b="0" i="1" sz="1000">
              <a:solidFill>
                <a:srgbClr val="64748B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261750" y="398275"/>
            <a:ext cx="8620500" cy="10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3600">
                <a:solidFill>
                  <a:schemeClr val="dk1"/>
                </a:solidFill>
              </a:rPr>
              <a:t>Data Normalization &amp; Enrichment</a:t>
            </a:r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371775" y="1144125"/>
            <a:ext cx="2629500" cy="33312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3210425" y="1144125"/>
            <a:ext cx="2629500" cy="33312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6049100" y="1144100"/>
            <a:ext cx="2629500" cy="33312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5"/>
          <p:cNvSpPr txBox="1"/>
          <p:nvPr>
            <p:ph type="title"/>
          </p:nvPr>
        </p:nvSpPr>
        <p:spPr>
          <a:xfrm>
            <a:off x="6120775" y="1285875"/>
            <a:ext cx="2481600" cy="8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Strado.info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0" lang="en" sz="1400"/>
              <a:t>Livability Index</a:t>
            </a:r>
            <a:endParaRPr b="0" sz="1400">
              <a:solidFill>
                <a:schemeClr val="lt1"/>
              </a:solidFill>
            </a:endParaRPr>
          </a:p>
        </p:txBody>
      </p:sp>
      <p:sp>
        <p:nvSpPr>
          <p:cNvPr id="105" name="Google Shape;105;p15"/>
          <p:cNvSpPr txBox="1"/>
          <p:nvPr>
            <p:ph type="title"/>
          </p:nvPr>
        </p:nvSpPr>
        <p:spPr>
          <a:xfrm>
            <a:off x="447975" y="1417975"/>
            <a:ext cx="2481600" cy="10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OpenStreet Map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0" lang="en" sz="1400"/>
              <a:t>Geospatial, public transport info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106" name="Google Shape;106;p15"/>
          <p:cNvSpPr txBox="1"/>
          <p:nvPr>
            <p:ph type="title"/>
          </p:nvPr>
        </p:nvSpPr>
        <p:spPr>
          <a:xfrm>
            <a:off x="3284388" y="1417975"/>
            <a:ext cx="2481600" cy="8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Crime Statistics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0" lang="en" sz="1400"/>
              <a:t>In Zürich</a:t>
            </a:r>
            <a:endParaRPr b="0" sz="1400">
              <a:solidFill>
                <a:schemeClr val="lt1"/>
              </a:solidFill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283100" y="4654975"/>
            <a:ext cx="62442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Quotes for illustration purposes only</a:t>
            </a:r>
            <a:endParaRPr i="1" sz="1200">
              <a:solidFill>
                <a:schemeClr val="accent5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8" name="Google Shape;10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0775" y="2166677"/>
            <a:ext cx="2481601" cy="2188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75025" y="2210663"/>
            <a:ext cx="2100300" cy="210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pic>
      <p:pic>
        <p:nvPicPr>
          <p:cNvPr id="110" name="Google Shape;11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0000" y="2485125"/>
            <a:ext cx="1599750" cy="1599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is slide is supposed to express we extract features like perceived brightness, modern, nice etc" id="115" name="Google Shape;11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5484225" y="1194575"/>
            <a:ext cx="3247200" cy="27585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Process attributes for each listing based on the images </a:t>
            </a: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uploaded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-"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View type (mountain, greenery)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-"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Brightness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-"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Size of rooms 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-"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Modernity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-"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Summary of rooms visible 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>
            <p:ph type="title"/>
          </p:nvPr>
        </p:nvSpPr>
        <p:spPr>
          <a:xfrm>
            <a:off x="283100" y="712150"/>
            <a:ext cx="8622300" cy="8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>
                <a:solidFill>
                  <a:schemeClr val="accent5"/>
                </a:solidFill>
              </a:rPr>
              <a:t>Our Pipeline at a Glance</a:t>
            </a:r>
            <a:endParaRPr sz="46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t/>
            </a:r>
            <a:endParaRPr b="0" sz="2400"/>
          </a:p>
        </p:txBody>
      </p:sp>
      <p:pic>
        <p:nvPicPr>
          <p:cNvPr id="122" name="Google Shape;12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16550"/>
            <a:ext cx="9144003" cy="2138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>
            <p:ph type="title"/>
          </p:nvPr>
        </p:nvSpPr>
        <p:spPr>
          <a:xfrm>
            <a:off x="260850" y="448900"/>
            <a:ext cx="8622300" cy="26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Query Understanding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b="0" lang="en" sz="2400"/>
              <a:t>Extracts both </a:t>
            </a:r>
            <a:r>
              <a:rPr lang="en" sz="2400"/>
              <a:t>hard filters</a:t>
            </a:r>
            <a:r>
              <a:rPr b="0" lang="en" sz="2400"/>
              <a:t> and </a:t>
            </a:r>
            <a:r>
              <a:rPr lang="en" sz="2400"/>
              <a:t>soft preferences</a:t>
            </a:r>
            <a:r>
              <a:rPr b="0" lang="en" sz="2400"/>
              <a:t>.</a:t>
            </a:r>
            <a:endParaRPr b="0"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0" lang="en" sz="2400"/>
              <a:t>Primary path: structured LLM extraction with Claude</a:t>
            </a:r>
            <a:endParaRPr b="0"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0" lang="en" sz="2400"/>
              <a:t>Fallback path: rule-based parser.</a:t>
            </a:r>
            <a:endParaRPr b="0" sz="2400"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0" sz="2400"/>
          </a:p>
        </p:txBody>
      </p:sp>
      <p:pic>
        <p:nvPicPr>
          <p:cNvPr id="128" name="Google Shape;12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768202"/>
            <a:ext cx="9144003" cy="2375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 txBox="1"/>
          <p:nvPr>
            <p:ph type="title"/>
          </p:nvPr>
        </p:nvSpPr>
        <p:spPr>
          <a:xfrm>
            <a:off x="283099" y="712150"/>
            <a:ext cx="86223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Soft Filtering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b="0" lang="en" sz="2400"/>
              <a:t>Conservative filtering before ranking.</a:t>
            </a:r>
            <a:endParaRPr b="0"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0" lang="en" sz="2400"/>
              <a:t>Removes obvious mismatches, such as parking-only objects when the user wants an apartment.</a:t>
            </a:r>
            <a:endParaRPr b="0"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0" lang="en" sz="2400"/>
              <a:t>Optionally trims expensive listings when the user explicitly asks for the cheapest option.</a:t>
            </a:r>
            <a:endParaRPr b="0"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0" lang="en" sz="2400"/>
              <a:t>Avoids over-filtering so good candidates are not lost too early.</a:t>
            </a:r>
            <a:endParaRPr b="0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>
            <p:ph idx="4294967295" type="title"/>
          </p:nvPr>
        </p:nvSpPr>
        <p:spPr>
          <a:xfrm>
            <a:off x="0" y="374625"/>
            <a:ext cx="8380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Multi-Signal Ranking</a:t>
            </a:r>
            <a:endParaRPr sz="2400"/>
          </a:p>
        </p:txBody>
      </p:sp>
      <p:sp>
        <p:nvSpPr>
          <p:cNvPr id="139" name="Google Shape;139;p20"/>
          <p:cNvSpPr txBox="1"/>
          <p:nvPr>
            <p:ph idx="4294967295" type="title"/>
          </p:nvPr>
        </p:nvSpPr>
        <p:spPr>
          <a:xfrm>
            <a:off x="535775" y="1480150"/>
            <a:ext cx="5197200" cy="30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Translating user’s desire to hard and soft constraints in the 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0" name="Google Shape;14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80150"/>
            <a:ext cx="9285304" cy="3663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145;p21"/>
          <p:cNvGrpSpPr/>
          <p:nvPr/>
        </p:nvGrpSpPr>
        <p:grpSpPr>
          <a:xfrm>
            <a:off x="423863" y="285750"/>
            <a:ext cx="8148638" cy="762000"/>
            <a:chOff x="423863" y="285750"/>
            <a:chExt cx="8148638" cy="762000"/>
          </a:xfrm>
        </p:grpSpPr>
        <p:cxnSp>
          <p:nvCxnSpPr>
            <p:cNvPr id="146" name="Google Shape;146;p21"/>
            <p:cNvCxnSpPr/>
            <p:nvPr/>
          </p:nvCxnSpPr>
          <p:spPr>
            <a:xfrm rot="10800000">
              <a:off x="514313" y="323888"/>
              <a:ext cx="0" cy="1809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7" name="Google Shape;147;p21"/>
            <p:cNvSpPr txBox="1"/>
            <p:nvPr/>
          </p:nvSpPr>
          <p:spPr>
            <a:xfrm>
              <a:off x="571500" y="285750"/>
              <a:ext cx="800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F46524"/>
                  </a:solidFill>
                  <a:latin typeface="Raleway"/>
                  <a:ea typeface="Raleway"/>
                  <a:cs typeface="Raleway"/>
                  <a:sym typeface="Raleway"/>
                </a:rPr>
                <a:t>Special Cases </a:t>
              </a:r>
              <a:endParaRPr b="1" sz="3600">
                <a:solidFill>
                  <a:srgbClr val="F46524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148" name="Google Shape;148;p21"/>
          <p:cNvGrpSpPr/>
          <p:nvPr/>
        </p:nvGrpSpPr>
        <p:grpSpPr>
          <a:xfrm>
            <a:off x="6096000" y="1143000"/>
            <a:ext cx="2667000" cy="3619500"/>
            <a:chOff x="6096000" y="1143000"/>
            <a:chExt cx="2667000" cy="3619500"/>
          </a:xfrm>
        </p:grpSpPr>
        <p:sp>
          <p:nvSpPr>
            <p:cNvPr id="149" name="Google Shape;149;p21"/>
            <p:cNvSpPr/>
            <p:nvPr/>
          </p:nvSpPr>
          <p:spPr>
            <a:xfrm>
              <a:off x="6096000" y="1143000"/>
              <a:ext cx="2667000" cy="3619500"/>
            </a:xfrm>
            <a:prstGeom prst="roundRect">
              <a:avLst>
                <a:gd fmla="val 5357" name="adj"/>
              </a:avLst>
            </a:prstGeom>
            <a:solidFill>
              <a:srgbClr val="4242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21"/>
            <p:cNvSpPr txBox="1"/>
            <p:nvPr/>
          </p:nvSpPr>
          <p:spPr>
            <a:xfrm>
              <a:off x="6238875" y="1285875"/>
              <a:ext cx="23814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46524"/>
                  </a:solidFill>
                  <a:latin typeface="Raleway"/>
                  <a:ea typeface="Raleway"/>
                  <a:cs typeface="Raleway"/>
                  <a:sym typeface="Raleway"/>
                </a:rPr>
                <a:t>Implicit Preferences</a:t>
              </a:r>
              <a:endParaRPr b="1" sz="1400">
                <a:solidFill>
                  <a:srgbClr val="F46524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Cues pointing to preferred features without explicit statement</a:t>
              </a:r>
              <a:endParaRPr b="0" sz="11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B0BEC5"/>
                  </a:solidFill>
                  <a:latin typeface="Raleway"/>
                  <a:ea typeface="Raleway"/>
                  <a:cs typeface="Raleway"/>
                  <a:sym typeface="Raleway"/>
                </a:rPr>
                <a:t>“Affordable” → differs in context</a:t>
              </a:r>
              <a:endParaRPr i="1" sz="1000">
                <a:solidFill>
                  <a:srgbClr val="B0BEC5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46524"/>
                  </a:solidFill>
                  <a:latin typeface="Raleway"/>
                  <a:ea typeface="Raleway"/>
                  <a:cs typeface="Raleway"/>
                  <a:sym typeface="Raleway"/>
                </a:rPr>
                <a:t>Conflicts</a:t>
              </a:r>
              <a:endParaRPr b="1" sz="1400">
                <a:solidFill>
                  <a:srgbClr val="F46524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Conflicting preferences handled by choosing the “midpoint”</a:t>
              </a:r>
              <a:endParaRPr b="0" sz="11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B0BEC5"/>
                  </a:solidFill>
                  <a:latin typeface="Raleway"/>
                  <a:ea typeface="Raleway"/>
                  <a:cs typeface="Raleway"/>
                  <a:sym typeface="Raleway"/>
                </a:rPr>
                <a:t>Central vs cheap</a:t>
              </a:r>
              <a:endParaRPr i="1" sz="1000">
                <a:solidFill>
                  <a:srgbClr val="B0BEC5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46524"/>
                  </a:solidFill>
                  <a:latin typeface="Raleway"/>
                  <a:ea typeface="Raleway"/>
                  <a:cs typeface="Raleway"/>
                  <a:sym typeface="Raleway"/>
                </a:rPr>
                <a:t>Negations</a:t>
              </a:r>
              <a:endParaRPr b="1" sz="1400">
                <a:solidFill>
                  <a:srgbClr val="F46524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“Near Zurich, not in Zürich”</a:t>
              </a:r>
              <a:endParaRPr b="0" sz="11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pic>
        <p:nvPicPr>
          <p:cNvPr id="151" name="Google Shape;151;p21"/>
          <p:cNvPicPr preferRelativeResize="0"/>
          <p:nvPr/>
        </p:nvPicPr>
        <p:blipFill rotWithShape="1">
          <a:blip r:embed="rId4">
            <a:alphaModFix/>
          </a:blip>
          <a:srcRect b="0" l="0" r="0" t="1536"/>
          <a:stretch/>
        </p:blipFill>
        <p:spPr>
          <a:xfrm>
            <a:off x="423875" y="1649626"/>
            <a:ext cx="5572500" cy="26062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2"/>
          <p:cNvPicPr preferRelativeResize="0"/>
          <p:nvPr/>
        </p:nvPicPr>
        <p:blipFill rotWithShape="1">
          <a:blip r:embed="rId3">
            <a:alphaModFix/>
          </a:blip>
          <a:srcRect b="0" l="0" r="8046" t="0"/>
          <a:stretch/>
        </p:blipFill>
        <p:spPr>
          <a:xfrm>
            <a:off x="-60750" y="0"/>
            <a:ext cx="971588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2"/>
          <p:cNvSpPr/>
          <p:nvPr/>
        </p:nvSpPr>
        <p:spPr>
          <a:xfrm>
            <a:off x="6870300" y="0"/>
            <a:ext cx="3011700" cy="5574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2"/>
          <p:cNvSpPr txBox="1"/>
          <p:nvPr>
            <p:ph idx="4294967295" type="body"/>
          </p:nvPr>
        </p:nvSpPr>
        <p:spPr>
          <a:xfrm>
            <a:off x="6900750" y="0"/>
            <a:ext cx="2950800" cy="51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accent5"/>
                </a:solidFill>
              </a:rPr>
              <a:t>Final Takeaway</a:t>
            </a:r>
            <a:endParaRPr b="1" sz="2800">
              <a:solidFill>
                <a:schemeClr val="accent5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Fully deployed FastAPI + React widget + MCP bridge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Hard-filter precision is the primary metric — hedge detection is our main contribution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System is transparent: every result includes score breakdown + evidence strings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>
            <a:alpha val="21360"/>
          </a:srgbClr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3"/>
          <p:cNvSpPr txBox="1"/>
          <p:nvPr/>
        </p:nvSpPr>
        <p:spPr>
          <a:xfrm>
            <a:off x="222575" y="475700"/>
            <a:ext cx="37575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Possible UI interface</a:t>
            </a:r>
            <a:endParaRPr b="1" sz="2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4" name="Google Shape;16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575" y="1214294"/>
            <a:ext cx="2905301" cy="3765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1775" y="1214300"/>
            <a:ext cx="2763316" cy="3765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38991" y="1183900"/>
            <a:ext cx="2774109" cy="38267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